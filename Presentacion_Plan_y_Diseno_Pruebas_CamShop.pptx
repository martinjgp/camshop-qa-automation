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640080"/>
            <a:ext cx="7315200" cy="393192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91440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UNIVERSIDAD TECNOLÓGICA DEL PERÚ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80160" y="118872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Facultad de Ingeniería de Sistemas e Informática · Carrera de Ingeniería de Software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PROYECTO: PLAN DE PRUEBAS Y DISEÑO DE CASOS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22402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Evaluado: CamShop — Comercio Electrónico y Monitoreo Inteligente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Empresa Titular: CamShop Seguridad &amp; Tecnología S.A.C.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80160" y="2926080"/>
            <a:ext cx="3154680" cy="1325880"/>
          </a:xfrm>
          <a:prstGeom prst="roundRect">
            <a:avLst>
              <a:gd name="adj" fmla="val 689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303580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AUTORES DEL PROYECTO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463040" y="329184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Arnold Steven Lujan Aderiano (U18207053)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Jesus Martin Gonzales Pocco (U24308236)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Carrera de Ingeniería de Software · Ciclo 9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2926080"/>
            <a:ext cx="3154680" cy="1325880"/>
          </a:xfrm>
          <a:prstGeom prst="roundRect">
            <a:avLst>
              <a:gd name="adj" fmla="val 689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303580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DOCENTE Y ASIGNATURA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92040" y="329184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Docente: Juan Manuel Iquise Peralta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Asignatura: Pruebas de Software (100000S13F)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Lima, Perú · Octubre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CONTEXTO DEL NEGOCIO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Empresa y Problemática Operacional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 de cuellos de botella que justifican el software y el plan de calidad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UTP · Pruebas de Software | Proyecto CamShop S.A.C.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3703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544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CamShop Seguridad &amp; Tecnología S.A.C.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965960"/>
            <a:ext cx="3246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Giro comercial: Empresa peruana orientada a la venta e instalación de sistemas de videovigilancia inteligente, cámaras IP, domos de seguridad y soluciones domóticas.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Mercado objetivo: Clientes residenciales (hogares particulares) y corporativos (Mypes, almacenes y locales comerciales).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Modelo previo: Canales manuales mediante mostrador físico y atención descentralizada por WhatsApp sin validación sistematizada.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3703320" cy="3200400"/>
          </a:xfrm>
          <a:prstGeom prst="roundRect">
            <a:avLst>
              <a:gd name="adj" fmla="val 285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544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Cuellos de Botella del Proceso Manual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246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Desincronización de Stock: Ventas prometidas sin respaldo físico en almacén, generando cancelaciones y quiebre de inventario.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Errores Aritméticos: Errores recurrentes en subtotales de cotizaciones manuales y aplicación de descuentos.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Pérdida de Trazabilidad: Carencia de estados de pedido claros para el despacho y entrega al cliente.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Vulnerabilidad de Acceso: Ausencia de roles definidos y riesgo en la privacidad de las órdenes de compra.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FUNDAMENTO METODOLÓGICO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Documentos de Entrada (Base de las Pruebas)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Marco normativo ISTQB e IEEE 829 para garantizar trazabilidad y cobertura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UTP · Pruebas de Software | Proyecto CamShop S.A.C.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1828800" cy="30632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SRS e Historias de Usuario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69748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Especificación de requisitos funcionales (RF) y reglas de negocio en formato Given-When-Then para definir condiciones de prueba.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1463040"/>
            <a:ext cx="1828800" cy="30632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1645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34640" y="20574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Documento de Alcance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69748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Delimitación formal de fronteras operativas: módulos dentro del esfuerzo de prueba (In-Scope) y exclusiones (Out-of-Scope).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463040"/>
            <a:ext cx="1828800" cy="3063240"/>
          </a:xfrm>
          <a:prstGeom prst="roundRect">
            <a:avLst>
              <a:gd name="adj" fmla="val 5000"/>
            </a:avLst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645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21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00600" y="20574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y Diagramas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269748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Topología cliente-servidor desacoplada, modelo relacional de datos y flujos de integración para pruebas entre capas.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29400" y="1463040"/>
            <a:ext cx="1828800" cy="306324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645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66560" y="20574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Cronograma General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269748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Alineación temporal de las 18 semanas entre hitos de desarrollo, ejecución de pruebas QA y despliegues continuos.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ESPECIFICACIÓN DEL SISTEMA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Requisitos de Software y Reglas de Negocio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Contrato funcional base que define qué se prueba y cómo se valida el comportamiento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UTP · Pruebas de Software | Proyecto CamShop S.A.C.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3703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544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Requisitos Clave del Sistema (SRS)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965960"/>
            <a:ext cx="3246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RF-01 / RF-02: Registro con correo único, validación de contraseña &gt;= 6 caracteres, hashing BCrypt y emisión de JWT (24h).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RF-03 / RF-04: Catálogo interactivo y carrito con restricción estricta de cantidad máxima basada en inventario físico.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RF-05 / RF-06: Checkout atómico transaccional, descuento de existencias en almacén y pago simulado.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RNF-01 a RNF-05: Seguridad HMAC-SHA256, latencia &lt; 1.2s en percentil 95, transaccionalidad ACID y cobertura &gt;= 80%.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3703320" cy="3200400"/>
          </a:xfrm>
          <a:prstGeom prst="roundRect">
            <a:avLst>
              <a:gd name="adj" fmla="val 28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544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 de Historias de Usuario (HU)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246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HU-01 (Autenticación): "Como cliente, quiero iniciar sesión con credenciales seguras para proteger mi historial".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Criterio: Rechazo de correos duplicados con ConflictException.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HU-03 (Carrito Reactivo): "Como comprador, quiero ajustar cantidades sin exceder el inventario disponible".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Regla: Subtotal = Cantidad * Precio; límite por stock físico.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HU-04 (Compra y Descuento): "Como cliente, quiero confirmar el pedido y asegurar la reserva inmediata de mis cámaras".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Regla: @Transactional; rollback si falla cualquier ítem.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DEL SOFTWARE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Topología Desacoplada y Componentes del Sistema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 multicapa que orienta la modularidad de las pruebas unitarias y de integración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UTP · Pruebas de Software | Proyecto CamShop S.A.C.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438912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361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Organización en 6 Capas de Software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18745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1. Presentación (Frontend SPA): Angular 20 Standalone, Signals reactivos, Tailwind CSS y JwtInterceptor.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22860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2. Seguridad y Gateway: Spring Security 6 con filtro JwtAuthenticationFilter y validación HMAC-SHA256.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" y="26974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3. Controladores REST: Endpoints expuestos (/api/auth, /api/camaras, /api/carrito, /api/ordenes).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0120" y="31089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4. Servicios de Negocio: Lógica central transaccional (@Transactional, hashing BCrypt, cálculo carrito).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35204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5. Acceso a Datos (JPA): Repositorios Spring Data JPA extendiendo JpaRepository para consultas tipadas.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60120" y="39319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6. Persistencia y Datos: H2 In-Memory para pruebas aisladas y reproducibles; MySQL 8.0 en producción.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03520" y="1371600"/>
            <a:ext cx="3108960" cy="32461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PERSISTENCIA DE DATOS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Relacional de Base de Datos de Pruebas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Esquema de entidades relacionales instanciado en H2 In-Memory para pruebas de integración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UTP · Pruebas de Software | Proyecto CamShop S.A.C.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3200400" cy="3246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544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 del Modelo de Pruebas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 Entidades Relacionadas: USUARIOS, ROLES, USUARIOS_ROLES, CATEGORIAS, CAMARAS, ORDENES, DETALLES_ORDEN y RESENAS.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Integridad Referencial Estricta: Claves foráneas para garantizar que ninguna orden exista sin usuario ni cámara válida.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Aislamiento Volátil en Memoria: H2 Database recrea el esquema limpio antes de cada test, evitando datos residuales o contaminación entre pruebas.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Verificación Transaccional: Permite verificar descuentos atómicos en stock y rollbacks de órdenes en persistencia real.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0" y="1371600"/>
            <a:ext cx="429768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DE INTEGRACIÓN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Transaccional de Servicios Integrados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Validación integral del ciclo Controller - Service - JPA - H2 con verificación de Rollback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UTP · Pruebas de Software | Proyecto CamShop S.A.C.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438912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54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Puntos Críticos del Flujo de Integración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1920240"/>
            <a:ext cx="39319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Intercepción de Seguridad (Filtro JWT):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La petición HTTP POST /api/ordenes valida la firma HMAC y carga el contexto de autenticación antes de llegar al controlador.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Frontera Transaccional (@Transactional):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OrdenService inicia el contexto transaccional. Consulta el stock físico en memoria mediante CamaraRepository.findById().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Bifurcación A (Stock Suficiente -&gt; COMMIT):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 descuentan existencias, se registra la orden como PAGADA, se limpia el carrito y se confirma la transacción con código 200 OK.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Bifurcación B (Stock Insuficiente -&gt; ROLLBACK):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 arroja IllegalArgumentException, revirtiendo cualquier cambio en H2. El controlador retorna HTTP 400 Bad Request.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1371600"/>
            <a:ext cx="3108960" cy="32461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PLANIFICACIÓN DE PRUEBAS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Delimitación del Alcance: In-Scope y Out-of-Scope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Fronteras operativas del esfuerzo de aseguramiento de la calidad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UTP · Pruebas de Software | Proyecto CamShop S.A.C.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3703320" cy="3200400"/>
          </a:xfrm>
          <a:prstGeom prst="roundRect">
            <a:avLst>
              <a:gd name="adj" fmla="val 285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544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Módulos Incluidos (In-Scope)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920240"/>
            <a:ext cx="32461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M01: Autenticación y Cuentas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Registro, login, validación de contraseñas y emisión de JWT.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M02: Catálogo de Cámaras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Filtrado dinámico, ordenamiento y consulta de stock.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M03: Carrito de Compras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Cálculo reactivo de subtotales y validación de límite de existencias.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M04 / M05: Checkout y Pago Simulado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Transaccionalidad, cambio a estado PAGADA y comprobante.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M06: Reseñas y Calificaciones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Publicación de opiniones (1 a 5 estrellas) y cálculo de promedio.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3703320" cy="3200400"/>
          </a:xfrm>
          <a:prstGeom prst="roundRect">
            <a:avLst>
              <a:gd name="adj" fmla="val 285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544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Módulos Excluidos (Out-of-Scope)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2461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Pasarela Bancaria Real con Tarjetas de Crédito: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Excluido por ámbito académico demostrativo; no se efectúan cobros monetarios reales ni transacciones interbancarias de producción.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Transmisión RTSP Directa desde Hardware Físico: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Excluido para desacoplar las pruebas de la presencia física de cámaras IP; se emplea un simulador interactivo frontend en Angular.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Justificación Técnica: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Permite concentrar el esfuerzo en la robustez lógica y transaccional sin incurrir en dependencias de hardware o costos financieros.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ESTRATEGIA DE CALIDAD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Matriz de Pruebas Basadas en Riesgo (RBT)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Priorización del esfuerzo y asignación de cobertura según criticidad de negocio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UTP · Pruebas de Software | Proyecto CamShop S.A.C.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17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2103120"/>
        </p:xfrm>
        <a:graphic>
          <a:graphicData uri="http://schemas.openxmlformats.org/drawingml/2006/table">
            <a:tbl>
              <a:tblPr/>
              <a:tblGrid>
                <a:gridCol w="1536192"/>
                <a:gridCol w="1536192"/>
                <a:gridCol w="1536192"/>
                <a:gridCol w="1536192"/>
                <a:gridCol w="1536192"/>
              </a:tblGrid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Módulo de Software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Impacto Operacional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Riesgo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Cobertura Mínima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Estrategia de Prueba Prioritaria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M01: Autenticación JWT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Suplantación de identidad o fuga de credenciales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91B1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Crítico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&gt;= 90%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Unitarias de Criptografía + Mockito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M04: Órdenes y Checkout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Pérdida económica o cobros no registrados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91B1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Crítico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&gt;= 90%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Integración Transaccional (@Transactional)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M03: Carrito de Compras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Venta sobre el stock o cálculo erróneo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A341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Alto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&gt;= 85%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Valores Límite + Angular Signals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M02: Catálogo de Cámaras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Fallo visual o filtro que impida comprar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54D0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Medio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&gt;= 75%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Partición de Equivalencia + HTTP Testing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M06: Reseñas y Opiniones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Spam o distorsión del promedio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Bajo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&gt;= 70%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Unitarias de Rango de Estrellas (1-5)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31520" y="3657600"/>
            <a:ext cx="7680960" cy="960120"/>
          </a:xfrm>
          <a:prstGeom prst="roundRect">
            <a:avLst>
              <a:gd name="adj" fmla="val 761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7673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Mitigación de Riesgos Técnicos Principales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400507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RSK-01 (Tokens expirados): Validado con algoritmo HMAC-SHA256 en JwtService.  • RSK-02 (Concurrencia): Rollback automático transaccional.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RSK-03 (Redondeo de subtotales): Aritmética de precisión decimal en CarritoService.  • RSK-04 (Servidores CI): ChromeHeadless con flags sin sandbox.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DE PRUEBAS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Técnicas de Diseño Aplicadas y Trazabilidad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Metodologías formales de Caja Negra y Caja Blanca para la derivación rigurosa de casos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UTP · Pruebas de Software | Proyecto CamShop S.A.C.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1828800" cy="32004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536192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Partición de Equivalencia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96596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Tipo: Caja Negra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" y="2194560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División de las entradas en clases válidas e inválidas para minimizar redundancia.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41248" y="2880360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Aplicación en el Sistema: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41248" y="3090672"/>
            <a:ext cx="16093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Formato de correo RFC 5322 y unicidad en AuthService (CP-UNI-001 / CP-UNI-002).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Rangos de precios en catálogo (CP-UNI-005).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Clasificación de soluciones (CP-UNI-008).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97480" y="1371600"/>
            <a:ext cx="1828800" cy="32004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07208" y="1536192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de Valores Límite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07208" y="196596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Tipo: Caja Negra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07208" y="2194560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Evaluación de comportamientos en las fronteras críticas de las variables numéricas.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807208" y="2880360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Aplicación en el Sistema: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807208" y="3090672"/>
            <a:ext cx="16093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Tope de existencias en almacén (Stock = 5 vs Solicitado = 6 en CP-UNI-004).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Cálculo exacto de subtotales flotantes (CP-UNI-003).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Escala de calificación de reseñas (1 a 5 estrellas).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1828800" cy="32004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536192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Caja Blanca y Mocks (Mockito)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73168" y="196596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Tipo: Caja Blanca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73168" y="2194560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Verificación de ramas lógicas internas y aislamiento de dependencias externas.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73168" y="2880360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Aplicación en el Sistema: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73168" y="3090672"/>
            <a:ext cx="16093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Simulación de UserRepository sin acceder a BD física.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Aserción de excepciones (ConflictException).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Verificación de llamadas a save() y encripción BCrypt.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629400" y="1371600"/>
            <a:ext cx="1828800" cy="3200400"/>
          </a:xfrm>
          <a:prstGeom prst="roundRect">
            <a:avLst>
              <a:gd name="adj" fmla="val 5000"/>
            </a:avLst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39128" y="1536192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Transición de Estados y DOM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39128" y="196596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Tipo: Frontend Reactivo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39128" y="2194560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Validación de reactividad en Angular Signals y actualización de atributos en DOM.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39128" y="2880360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21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Aplicación en el Sistema: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739128" y="3090672"/>
            <a:ext cx="16093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Conmutación reactiva de cámaras CCTV en Hero (CP-UNI-006).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Virtual timers con jasmine.clock() (CP-UNI-007).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Alternador de visibilidad de password (CP-UNI-009).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DE CASOS DE PRUEBA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Unitarias Backend (JUnit 5 + Mockito)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Fichas técnicas formales para lógica de negocio en AuthService, CarritoService y CamaraService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UTP · Pruebas de Software | Proyecto CamShop S.A.C.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3749040" cy="1536192"/>
          </a:xfrm>
          <a:prstGeom prst="roundRect">
            <a:avLst>
              <a:gd name="adj" fmla="val 476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463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CP-UNI-001: AuthService · Registro Exitoso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166420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Requisito: RF-01 (Registro Válido)  |  Técnica: Partición Equivalencia + Mockito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8680" y="1847088"/>
            <a:ext cx="3474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Entrada: RegisterRequest: { username: "cliente.qa@camshop.pe", pass: "Password123!" }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Pasos: 1. Mock existsByUsername = false. 2. Invocar authService.register(request). 3. Verificar llamada a userRepository.save().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Resultado: Usuario registrado con éxito, clave encriptada con BCrypt y rol ROLE_CLIENTE.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3749040" cy="1536192"/>
          </a:xfrm>
          <a:prstGeom prst="roundRect">
            <a:avLst>
              <a:gd name="adj" fmla="val 4762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463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CP-UNI-002: AuthService · Rechazo Duplicado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00600" y="166420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Requisito: RF-01 (Unicidad de Correo)  |  Técnica: Partición Equivalencia (Clase Inválida)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00600" y="1847088"/>
            <a:ext cx="3474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Entrada: RegisterRequest: { username: "cliente.existente@camshop.pe" }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Pasos: 1. Mock existsByUsername = true. 2. Ejecutar authService.register(request). 3. Capturar excepción arrojada.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Resultado: Intercepción inmediata, lanza ConflictException descriptiva. No se invoca save().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3017520"/>
            <a:ext cx="3749040" cy="1536192"/>
          </a:xfrm>
          <a:prstGeom prst="roundRect">
            <a:avLst>
              <a:gd name="adj" fmla="val 476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108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CP-UNI-003: CarritoService · Subtotal Exacto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331012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Requisito: RF-04 (Cálculo Aritmético)  |  Técnica: Análisis de Valores Límite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68680" y="3493008"/>
            <a:ext cx="3474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Entrada: camaraId: 10 (Precio S/. 200.00), cantidad: 3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Pasos: 1. Simular cámara con precio S/. 200.00. 2. Invocar carritoService.agregarItem(1, 10, 3). 3. Verificar subtotal e importe total.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Resultado: El subtotal del ítem es exactamente 3 * 200.00 = S/. 600.00 y el total se actualiza.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3749040" cy="1536192"/>
          </a:xfrm>
          <a:prstGeom prst="roundRect">
            <a:avLst>
              <a:gd name="adj" fmla="val 4762"/>
            </a:avLst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108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21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CP-UNI-004: CarritoService · Límite de Stock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331012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Requisito: RF-04 (Control de Existencias)  |  Técnica: Valores Límite (Tope Excedido)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00600" y="3493008"/>
            <a:ext cx="3474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Entrada: camaraId: 10, stockDisponible: 5, cantidadSolicitada: 6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Pasos: 1. Configurar cámara con stock = 5. 2. Invocar carritoService.agregarItem(1, 10, 6). 3. Validar intercepción de inventario.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Resultado: Operación denegada con IllegalArgumentException por falta de existencias.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DE CASOS DE PRUEBA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Unitarias Frontend (Jasmine + Karma)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Fichas técnicas para reactividad de Angular Signals, simulación CCTV y estados de componentes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UTP · Pruebas de Software | Proyecto CamShop S.A.C.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3749040" cy="1536192"/>
          </a:xfrm>
          <a:prstGeom prst="roundRect">
            <a:avLst>
              <a:gd name="adj" fmla="val 476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463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CP-UNI-006: HeroComponent · Simulador CCTV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166420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Requisito: RF-03 (Conmutación Canales)  |  Técnica: Transición de Estados en Signals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8680" y="1847088"/>
            <a:ext cx="3474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Precondición: HeroComponent montado en DOM virtual.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Entrada: Selección del canal CAM-02 (Perímetro Exterior)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Pasos: 1. Validar selectedCamera() === "CAM-01". 2. Ejecutar selectCamera(cameras[1]). 3. Invocar detectChanges().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Resultado: La señal selectedCamera pasa a CAM-02 con resolución 4K y modo nocturno.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3749040" cy="1536192"/>
          </a:xfrm>
          <a:prstGeom prst="roundRect">
            <a:avLst>
              <a:gd name="adj" fmla="val 476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463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CP-UNI-007: HeroComponent · Reloj Virtual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00600" y="166420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Requisito: RF-03 (Timer de Monitoreo)  |  Técnica: Reloj Virtual y Limpieza ngOnDestroy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00600" y="1847088"/>
            <a:ext cx="3474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Precondición: Componente con setInterval cada 1000ms.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Entrada: Avance virtual: jasmine.clock().tick(1000)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Pasos: 1. Instalar reloj virtual jasmine.clock(). 2. Avanzar 1000ms. 3. Invocar ngOnDestroy() y verificar clearInterval.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Resultado: Señal de timestamp en formato HH:mm:ss y destrucción sin memory leaks.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3017520"/>
            <a:ext cx="3749040" cy="1536192"/>
          </a:xfrm>
          <a:prstGeom prst="roundRect">
            <a:avLst>
              <a:gd name="adj" fmla="val 4762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108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CP-UNI-008: SolucionesComponent · Filtros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331012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Requisito: RF-03 (Filtrado de Entornos)  |  Técnica: Partición de Equivalencia Reactiva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68680" y="3493008"/>
            <a:ext cx="3474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Precondición: Componente con 3 soluciones (Interior, Exterior, PTZ).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Entrada: filtro: "interior"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Pasos: 1. Ejecutar component.filtrar("interior"). 2. Evaluar getter computado solucionesFiltradas. 3. Filtrar "todos".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Resultado: El arreglo computado contiene exactamente 1 elemento ("interior") y 3 con "todos".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3749040" cy="1536192"/>
          </a:xfrm>
          <a:prstGeom prst="roundRect">
            <a:avLst>
              <a:gd name="adj" fmla="val 4762"/>
            </a:avLst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108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21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CP-UNI-009: LoginComponent · Password Toggle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331012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Requisito: RF-02 (Alternador Visibilidad)  |  Técnica: Estado Reactivo y Modificación DOM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00600" y="3493008"/>
            <a:ext cx="3474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Precondición: LoginComponent con showPassword = false.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Entrada: Evento clic en botón con ícono de ojo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Pasos: 1. Input con type="password". 2. Invocar togglePassword(). 3. detectChanges() y verificar atributo DOM.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Resultado: La señal showPassword pasa a true y el atributo en el DOM cambia a type="text".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DE CASOS DE PRUEBA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de Integración Backend (MockMvc + Spring Data JPA + H2)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Validación integral del flujo cliente-servidor, seguridad JWT y transaccionalidad con rollback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UTP · Pruebas de Software | Proyecto CamShop S.A.C.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7680960" cy="987552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447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CP-INT-010: Registro Cliente-Servidor con Persistencia Real en H2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35040" y="144475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Endpoint: POST /api/auth/register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166420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Requisito: RF-01 (Persistencia End-to-End)  |  Técnica: Integración Bottom-Up (Controller + Service + JPA + H2)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Payload/Entrada: {"username": "qa.integracion@camshop.pe", "password": "Password123!"}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Pasos: 1. Enviar petición POST vía mockMvc.perform(). 2. Verificar status HTTP 200/201 OK. 3. Consultar userRepository contra base de datos H2.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Resultado Esperado: Código HTTP 200 OK. El usuario queda efectivamente persistido en la tabla USUARIOS de H2 con contraseña encriptada con BCrypt.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2450592"/>
            <a:ext cx="7680960" cy="987552"/>
          </a:xfrm>
          <a:prstGeom prst="roundRect">
            <a:avLst>
              <a:gd name="adj" fmla="val 740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52374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CP-INT-011: Emisión y Firma de Token JWT tras Autenticación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35040" y="252374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Endpoint: POST /api/auth/login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Requisito: RF-02 (Seguridad Spring Security)  |  Técnica: Integración Criptográfica y Filtros de Seguridad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Payload/Entrada: {"username": "qa.integracion@camshop.pe", "password": "Password123!"}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Pasos: 1. Enviar credenciales válidas con mockMvc. 2. Extraer cuerpo JSON de respuesta. 3. Validar token JWT (3 segmentos y claims).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Resultado Esperado: Código HTTP 200 OK. La respuesta contiene un token JWT válido con firma HMAC-SHA256 y rol ROLE_CLIENTE.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3529584"/>
            <a:ext cx="7680960" cy="987552"/>
          </a:xfrm>
          <a:prstGeom prst="roundRect">
            <a:avLst>
              <a:gd name="adj" fmla="val 740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6027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CP-INT-012: Transaccionalidad de Órdenes y Descuento Atómico en H2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35040" y="360273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Endpoint: POST /api/ordenes (Header Authorization: Bearer &lt;token&gt;)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382219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Requisito: RF-05 / RNF-03 (Consistencia ACID)  |  Técnica: Integración Transaccional con Verificación de Efectos Secundarios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Payload/Entrada: Carrito activo de 2 unidades de CAM-01 (Stock inicial: 10 unidades)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Pasos: 1. Ejecutar creación de orden con MockMvc. 2. Consultar tabla ORDENES y verificar estado PAGADA. 3. Consultar stock físico restante en H2.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Resultado Esperado: Código HTTP 200 OK. La orden se registra como PAGADA, el carrito se vacía y el stock pasa a 8 unidades. Ante error se revierte con Rollback.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DE CASOS DE PRUEBA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de Integración Frontend (HttpClientTesting)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Validación de consumo de APIs REST, deserialización tipada e inyección de tokens de seguridad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UTP · Pruebas de Software | Proyecto CamShop S.A.C.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3749040" cy="3200400"/>
          </a:xfrm>
          <a:prstGeom prst="roundRect">
            <a:avLst>
              <a:gd name="adj" fmla="val 28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544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CP-INT-013: Consumo de Endpoints REST y Deserialización de Modelos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9933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Componente: CamaraService (Servicio de Catálogo)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Requisito: RF-03 (Integración de Catálogo)  |  Técnica: Simulación de Transporte con HttpTestingController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8680" y="2359152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Precondición: CamaraService configurado en TestBed con provideHttpClientTesting().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Datos de Entrada: Invocación al método camaraService.listarCamaras()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Pasos de Ejecución: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1. Suscribirse al Observable devuelto por el servicio.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2. Interceptar solicitud saliente GET /api/camaras con httpMock.expectOne().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3. Emitir arreglo mock de 2 cámaras.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4. Verificar resolución de datos.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Resultado Esperado: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La petición saliente es de tipo GET, la URL coincide exactamente y el servicio deserializa exitosamente el JSON en instancias tipadas de Camara[].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3749040" cy="3200400"/>
          </a:xfrm>
          <a:prstGeom prst="roundRect">
            <a:avLst>
              <a:gd name="adj" fmla="val 285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5544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CP-INT-014: Inyección Obligatoria de Cabecera Authorization Bearer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9933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Componente: JwtInterceptor (Seguridad de Red HTTP)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Requisito: RF-02 / RNF-01 (Seguridad en Peticiones)  |  Técnica: Verificación de Interceptores HTTP en Angular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00600" y="2359152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Precondición: Token JWT simulado almacenado previamente en localStorage.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Datos de Entrada: Petición HTTP hacia endpoint protegido /api/cliente/perfil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Pasos de Ejecución: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1. Ejecutar petición HTTP con el interceptor configurado.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2. Capturar solicitud saliente con httpMock.expectOne().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3. Inspeccionar las cabeceras HTTP de la petición interceptada.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Resultado Esperado: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La solicitud saliente enviada al servidor contiene obligatoriamente la cabecera Authorization: Bearer &lt;token_valido&gt;, protegiendo la sesión del usuario.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PLANIFICACIÓN TEMPORAL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Cronograma General del Proyecto (18 Semanas)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Sincronización continua de desarrollo de software, pruebas de calidad y despliegues CI/CD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UTP · Pruebas de Software | Proyecto CamShop S.A.C.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7680960" cy="713232"/>
          </a:xfrm>
          <a:prstGeom prst="roundRect">
            <a:avLst>
              <a:gd name="adj" fmla="val 102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087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1 - 4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7556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Fundamentos y Pruebas Unitarias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17520" y="1444752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Desarrollo: SRS, arquitectura base y modelos JPA.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Pruebas QA: Plan de pruebas, matriz de riesgos y suites unitarias (JUnit 5, Jasmine).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CI/CD: Setup inicial de Git y Maven test.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176272"/>
            <a:ext cx="7680960" cy="713232"/>
          </a:xfrm>
          <a:prstGeom prst="roundRect">
            <a:avLst>
              <a:gd name="adj" fmla="val 10256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31343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5 - 8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560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Integración y Transaccionalidad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017520" y="2249424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Desarrollo: Checkout, carrito y generación de órdenes.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Pruebas QA: Pruebas de integración con MockMvc y H2; pruebas funcionales E2E.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CI/CD: Pipeline CI/CD activo y release v1.0-alpha.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2980944"/>
            <a:ext cx="7680960" cy="713232"/>
          </a:xfrm>
          <a:prstGeom prst="roundRect">
            <a:avLst>
              <a:gd name="adj" fmla="val 10256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11810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9 - 12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3649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Rendimiento y Seguridad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017520" y="3054096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Desarrollo: Reseñas, catálogo y robustecimiento API.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Pruebas QA: Pruebas de carga con JMeter y auditoría de seguridad OWASP ZAP.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CI/CD: Escaneo estático SAST y métricas de carga.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3785616"/>
            <a:ext cx="7680960" cy="713232"/>
          </a:xfrm>
          <a:prstGeom prst="roundRect">
            <a:avLst>
              <a:gd name="adj" fmla="val 10256"/>
            </a:avLst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92277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21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13 - 18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416966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Regresión, Calidad y Cierre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017520" y="3858768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Desarrollo: Code freeze, accesibilidad y ajustes finales.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Pruebas QA: Regresión automatizada completa, métricas de cobertura y reporte final.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CI/CD: Release candidate (v1.0-RC) y versión final.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DEVOPS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Estrategia de Integración Continua (GitHub Actions)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Ejecución automática de pruebas para detección temprana de regresiones en cada commit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UTP · Pruebas de Software | Proyecto CamShop S.A.C.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3703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544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 del Workflow (.github/workflows)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1920240"/>
            <a:ext cx="32461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Desencadenadores Automáticos: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Push directo a la rama main y creación de Pull Requests hacia main.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Job 1 - Backend (Java / Spring Boot):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Runner Ubuntu, Java 17 LTS, resolución de dependencias Maven y ejecución de pruebas unitarias (JUnit 5) e integración (MockMvc con H2).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Job 2 - Frontend (Angular 20 Standalone):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Runner Ubuntu, Node.js 20+, npm ci y ejecución de suites con Jasmine + Karma en modo ChromeHeadlessNoSandbox.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3703320" cy="3200400"/>
          </a:xfrm>
          <a:prstGeom prst="roundRect">
            <a:avLst>
              <a:gd name="adj" fmla="val 285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544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Políticas de Calidad (Quality Gate)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2461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Bloqueo Automático de Merge: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Si un solo caso de prueba unitario o de integración falla, el pipeline interrumpe el despliegue e impide la mezcla de código.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Detección Temprana de Defectos: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Los desarrolladores reciben retroalimentación en menos de 3 minutos tras cada envío al repositorio.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Historial y Trazabilidad: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Reportes de cobertura y bitácora de ejecución almacenados en GitHub Actions para auditoría académica y técnica.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Y CIERRE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Criterios de Entrada/Salida y Conclusiones del Plan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Parámetros cuantitativos que garantizan la madurez del sistema antes de su liberación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UTP · Pruebas de Software | Proyecto CamShop S.A.C.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3703320" cy="3200400"/>
          </a:xfrm>
          <a:prstGeom prst="roundRect">
            <a:avLst>
              <a:gd name="adj" fmla="val 28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544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Criterios de Entrada, Salida y Control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1920240"/>
            <a:ext cx="32461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Entrada: Repositorio sincronizado en main, código compila con cero errores y base de datos H2 aprovisionada.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Salida: 100% de casos críticos ejecutados, tasa de aprobación &gt;= 95%, 0 defectos de severidad alta y cobertura general &gt;= 80%.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Suspensión: Si más del 25% de pruebas fallan por caídas de dependencias o infraestructura inestable.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Reanudación: Tras resolución técnica documentada y verificación exitosa de prueba de humo (Smoke Test).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3703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544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Conclusiones de la Fase de Planificación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2461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Trazabilidad Completa: Cada caso de prueba responde a un requisito funcional (RF), una regla de negocio y una historia de usuario comprobable.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Enfoque en Riesgos (RBT): Se focaliza el esfuerzo de mayor cobertura (&gt;= 90%) en autenticación de usuarios y transaccionalidad de órdenes.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Aislamiento y Reproducibilidad: El uso de H2 In-Memory y mocks garantiza pruebas rápidas, independientes y libres de efectos secundarios.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Preparación para Siguientes Fases: La suite queda lista para ejecución automatizada en CI/CD y posterior expansión a pruebas de carga y seguridad.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2026-09-14T21:51:49Z</dcterms:created>
  <dcterms:modified xsi:type="dcterms:W3CDTF">2026-09-14T21:51:49Z</dcterms:modified>
</cp:coreProperties>
</file>